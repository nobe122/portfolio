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5226C9-AE78-4C3E-BC09-D80835AB5428}" v="2" dt="2026-05-16T07:06:4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池延　一輝" userId="163c3fcc-1c87-43f9-92b4-27c03fc3b6b8" providerId="ADAL" clId="{FE94E8E9-3216-4F59-96D3-5F4A2C779FDD}"/>
    <pc:docChg chg="custSel modSld">
      <pc:chgData name="池延　一輝" userId="163c3fcc-1c87-43f9-92b4-27c03fc3b6b8" providerId="ADAL" clId="{FE94E8E9-3216-4F59-96D3-5F4A2C779FDD}" dt="2026-05-16T07:06:48.568" v="77" actId="20577"/>
      <pc:docMkLst>
        <pc:docMk/>
      </pc:docMkLst>
      <pc:sldChg chg="addSp delSp modSp mod delAnim">
        <pc:chgData name="池延　一輝" userId="163c3fcc-1c87-43f9-92b4-27c03fc3b6b8" providerId="ADAL" clId="{FE94E8E9-3216-4F59-96D3-5F4A2C779FDD}" dt="2026-05-16T07:06:41.940" v="68" actId="1076"/>
        <pc:sldMkLst>
          <pc:docMk/>
          <pc:sldMk cId="3183780250" sldId="262"/>
        </pc:sldMkLst>
        <pc:spChg chg="add mod">
          <ac:chgData name="池延　一輝" userId="163c3fcc-1c87-43f9-92b4-27c03fc3b6b8" providerId="ADAL" clId="{FE94E8E9-3216-4F59-96D3-5F4A2C779FDD}" dt="2026-05-16T07:06:41.940" v="68" actId="1076"/>
          <ac:spMkLst>
            <pc:docMk/>
            <pc:sldMk cId="3183780250" sldId="262"/>
            <ac:spMk id="2" creationId="{30EB0D3D-2CBC-B6EF-EE48-9F3F78337EDF}"/>
          </ac:spMkLst>
        </pc:spChg>
        <pc:picChg chg="del">
          <ac:chgData name="池延　一輝" userId="163c3fcc-1c87-43f9-92b4-27c03fc3b6b8" providerId="ADAL" clId="{FE94E8E9-3216-4F59-96D3-5F4A2C779FDD}" dt="2026-05-16T07:06:02.987" v="0" actId="478"/>
          <ac:picMkLst>
            <pc:docMk/>
            <pc:sldMk cId="3183780250" sldId="262"/>
            <ac:picMk id="3" creationId="{C2C496B6-4D20-A21A-1F95-EA955D7F3BD0}"/>
          </ac:picMkLst>
        </pc:picChg>
      </pc:sldChg>
      <pc:sldChg chg="addSp delSp modSp mod delAnim">
        <pc:chgData name="池延　一輝" userId="163c3fcc-1c87-43f9-92b4-27c03fc3b6b8" providerId="ADAL" clId="{FE94E8E9-3216-4F59-96D3-5F4A2C779FDD}" dt="2026-05-16T07:06:48.568" v="77" actId="20577"/>
        <pc:sldMkLst>
          <pc:docMk/>
          <pc:sldMk cId="295465139" sldId="266"/>
        </pc:sldMkLst>
        <pc:spChg chg="add mod">
          <ac:chgData name="池延　一輝" userId="163c3fcc-1c87-43f9-92b4-27c03fc3b6b8" providerId="ADAL" clId="{FE94E8E9-3216-4F59-96D3-5F4A2C779FDD}" dt="2026-05-16T07:06:48.568" v="77" actId="20577"/>
          <ac:spMkLst>
            <pc:docMk/>
            <pc:sldMk cId="295465139" sldId="266"/>
            <ac:spMk id="3" creationId="{B32CAFE8-A60A-A40B-4FB3-728CA5AF8F53}"/>
          </ac:spMkLst>
        </pc:spChg>
        <pc:picChg chg="del">
          <ac:chgData name="池延　一輝" userId="163c3fcc-1c87-43f9-92b4-27c03fc3b6b8" providerId="ADAL" clId="{FE94E8E9-3216-4F59-96D3-5F4A2C779FDD}" dt="2026-05-16T07:06:04.988" v="1" actId="478"/>
          <ac:picMkLst>
            <pc:docMk/>
            <pc:sldMk cId="295465139" sldId="266"/>
            <ac:picMk id="2" creationId="{718D6DC5-11F3-627D-5E24-C24908885D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14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583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33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36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71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99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12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843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70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387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0500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656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5263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309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8239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740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26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1B00A2C-3EA3-4292-8ACF-ACBA7F5635AE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692C6F6-D36F-4C52-892E-D65A019322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0967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kumimoji="1"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kumimoji="1"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FF069-624A-D1DF-54FA-4A1DFD00C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107" y="1565611"/>
            <a:ext cx="10039786" cy="2387600"/>
          </a:xfrm>
        </p:spPr>
        <p:txBody>
          <a:bodyPr>
            <a:normAutofit/>
          </a:bodyPr>
          <a:lstStyle/>
          <a:p>
            <a:r>
              <a:rPr lang="en-US" altLang="ja-JP" sz="4400" b="1" dirty="0">
                <a:latin typeface="ＭＳ Ｐゴシック 見出し"/>
              </a:rPr>
              <a:t>Raspberry Pi 4B </a:t>
            </a:r>
            <a:r>
              <a:rPr lang="ja-JP" altLang="en-US" sz="4400" b="1" dirty="0">
                <a:latin typeface="ＭＳ Ｐゴシック 見出し"/>
              </a:rPr>
              <a:t>による映像認識による</a:t>
            </a:r>
            <a:br>
              <a:rPr lang="en-US" altLang="ja-JP" sz="4400" b="1" dirty="0">
                <a:latin typeface="ＭＳ Ｐゴシック 見出し"/>
              </a:rPr>
            </a:br>
            <a:r>
              <a:rPr lang="ja-JP" altLang="en-US" sz="4400" b="1" dirty="0">
                <a:latin typeface="ＭＳ Ｐゴシック 見出し"/>
              </a:rPr>
              <a:t>音声アシスト作業管理システム</a:t>
            </a:r>
            <a:endParaRPr kumimoji="1" lang="ja-JP" altLang="en-US" sz="4400" b="1" dirty="0">
              <a:latin typeface="ＭＳ Ｐゴシック 見出し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5D6D27-ADFB-66F7-8B05-BF4711054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055546"/>
            <a:ext cx="9440034" cy="1049867"/>
          </a:xfrm>
        </p:spPr>
        <p:txBody>
          <a:bodyPr>
            <a:normAutofit/>
          </a:bodyPr>
          <a:lstStyle/>
          <a:p>
            <a:r>
              <a:rPr kumimoji="1" lang="en-US" altLang="ja-JP" sz="2800" dirty="0">
                <a:latin typeface="ＭＳ Ｐゴシック 見出し"/>
              </a:rPr>
              <a:t>AF22116 </a:t>
            </a:r>
            <a:r>
              <a:rPr kumimoji="1" lang="ja-JP" altLang="en-US" sz="2800" dirty="0">
                <a:latin typeface="ＭＳ Ｐゴシック 見出し"/>
              </a:rPr>
              <a:t>池延一輝</a:t>
            </a:r>
          </a:p>
        </p:txBody>
      </p:sp>
    </p:spTree>
    <p:extLst>
      <p:ext uri="{BB962C8B-B14F-4D97-AF65-F5344CB8AC3E}">
        <p14:creationId xmlns:p14="http://schemas.microsoft.com/office/powerpoint/2010/main" val="235896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A627858-DE64-0FA8-D05A-1EF4CA7AD7A2}"/>
              </a:ext>
            </a:extLst>
          </p:cNvPr>
          <p:cNvGrpSpPr/>
          <p:nvPr/>
        </p:nvGrpSpPr>
        <p:grpSpPr>
          <a:xfrm>
            <a:off x="2116148" y="659624"/>
            <a:ext cx="7959701" cy="2687359"/>
            <a:chOff x="2309267" y="1008630"/>
            <a:chExt cx="7573465" cy="2687359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71C8DAB9-C4EC-2AF4-BE2F-8BADFC83EA9D}"/>
                </a:ext>
              </a:extLst>
            </p:cNvPr>
            <p:cNvSpPr/>
            <p:nvPr/>
          </p:nvSpPr>
          <p:spPr>
            <a:xfrm>
              <a:off x="2309267" y="1008630"/>
              <a:ext cx="7573465" cy="2687359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/>
                <a:t>在宅作業・長時間作業の増加</a:t>
              </a:r>
            </a:p>
            <a:p>
              <a:pPr algn="ctr"/>
              <a:r>
                <a:rPr lang="ja-JP" altLang="en-US" sz="2400" dirty="0"/>
                <a:t>作業管理・休憩管理が自己管理に依存している</a:t>
              </a:r>
            </a:p>
            <a:p>
              <a:pPr algn="ctr"/>
              <a:r>
                <a:rPr lang="ja-JP" altLang="en-US" sz="2400" dirty="0"/>
                <a:t>操作なしで使える作業管理システムへの需要</a:t>
              </a:r>
              <a:endParaRPr kumimoji="1" lang="ja-JP" altLang="en-US" sz="2400" dirty="0"/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94671EBF-87C2-7F15-15DF-DB3C03A9B832}"/>
                </a:ext>
              </a:extLst>
            </p:cNvPr>
            <p:cNvSpPr/>
            <p:nvPr/>
          </p:nvSpPr>
          <p:spPr>
            <a:xfrm>
              <a:off x="2309267" y="1008630"/>
              <a:ext cx="1619395" cy="663115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ysClr val="windowText" lastClr="000000"/>
                  </a:solidFill>
                </a:rPr>
                <a:t>背景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1374E68-BFFC-7807-A0EF-FBD55741860E}"/>
              </a:ext>
            </a:extLst>
          </p:cNvPr>
          <p:cNvGrpSpPr/>
          <p:nvPr/>
        </p:nvGrpSpPr>
        <p:grpSpPr>
          <a:xfrm>
            <a:off x="2116148" y="3511018"/>
            <a:ext cx="7959701" cy="2687359"/>
            <a:chOff x="2309267" y="1008630"/>
            <a:chExt cx="7573465" cy="2687359"/>
          </a:xfrm>
        </p:grpSpPr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D8BC4D89-A376-27EC-2813-EF0EF3E85D44}"/>
                </a:ext>
              </a:extLst>
            </p:cNvPr>
            <p:cNvSpPr/>
            <p:nvPr/>
          </p:nvSpPr>
          <p:spPr>
            <a:xfrm>
              <a:off x="2309267" y="1008630"/>
              <a:ext cx="7573465" cy="2687359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dirty="0"/>
                <a:t>カメラと音声のみで操作可能な作業管理システムの構築</a:t>
              </a:r>
            </a:p>
            <a:p>
              <a:pPr algn="ctr"/>
              <a:r>
                <a:rPr lang="ja-JP" altLang="en-US" sz="2400" dirty="0"/>
                <a:t>直感的なジェスチャー操作による状態遷移</a:t>
              </a:r>
            </a:p>
            <a:p>
              <a:pPr algn="ctr"/>
              <a:r>
                <a:rPr lang="en-US" altLang="ja-JP" sz="2400" dirty="0"/>
                <a:t>Raspberry Pi </a:t>
              </a:r>
              <a:r>
                <a:rPr lang="ja-JP" altLang="en-US" sz="2400" dirty="0"/>
                <a:t>上で動作する軽量な実装</a:t>
              </a:r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F8FB110C-EE78-AB24-39C6-BBB5FCB172B1}"/>
                </a:ext>
              </a:extLst>
            </p:cNvPr>
            <p:cNvSpPr/>
            <p:nvPr/>
          </p:nvSpPr>
          <p:spPr>
            <a:xfrm>
              <a:off x="2309267" y="1008630"/>
              <a:ext cx="1619395" cy="663115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ysClr val="windowText" lastClr="000000"/>
                  </a:solidFill>
                </a:rPr>
                <a:t>目的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487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置かれたチラシ&#10;&#10;AI 生成コンテンツは誤りを含む可能性があります。">
            <a:extLst>
              <a:ext uri="{FF2B5EF4-FFF2-40B4-BE49-F238E27FC236}">
                <a16:creationId xmlns:a16="http://schemas.microsoft.com/office/drawing/2014/main" id="{468A8583-1E2E-9B10-9CE3-1638AF153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990" y="251285"/>
            <a:ext cx="4755811" cy="3566858"/>
          </a:xfrm>
          <a:prstGeom prst="rect">
            <a:avLst/>
          </a:prstGeom>
        </p:spPr>
      </p:pic>
      <p:pic>
        <p:nvPicPr>
          <p:cNvPr id="9" name="図 8" descr="コンピューターのキーボ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71019241-8B91-9D15-DF36-883A501E0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097" y="661349"/>
            <a:ext cx="4122944" cy="3092208"/>
          </a:xfrm>
          <a:prstGeom prst="rect">
            <a:avLst/>
          </a:prstGeom>
        </p:spPr>
      </p:pic>
      <p:pic>
        <p:nvPicPr>
          <p:cNvPr id="11" name="図 10" descr="キーボードとカップ&#10;&#10;AI 生成コンテンツは誤りを含む可能性があります。">
            <a:extLst>
              <a:ext uri="{FF2B5EF4-FFF2-40B4-BE49-F238E27FC236}">
                <a16:creationId xmlns:a16="http://schemas.microsoft.com/office/drawing/2014/main" id="{812C8243-0F1B-0403-D66B-1BAE425E6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427" y="3753557"/>
            <a:ext cx="3983340" cy="2987505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1E5525D-5077-E699-452A-214D58957D74}"/>
              </a:ext>
            </a:extLst>
          </p:cNvPr>
          <p:cNvGrpSpPr/>
          <p:nvPr/>
        </p:nvGrpSpPr>
        <p:grpSpPr>
          <a:xfrm>
            <a:off x="530809" y="3957746"/>
            <a:ext cx="3983340" cy="2783316"/>
            <a:chOff x="3087423" y="1319247"/>
            <a:chExt cx="4361220" cy="2783316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24EBA11F-FE2F-CBEC-AF90-EAA5D5EC793E}"/>
                </a:ext>
              </a:extLst>
            </p:cNvPr>
            <p:cNvSpPr/>
            <p:nvPr/>
          </p:nvSpPr>
          <p:spPr>
            <a:xfrm>
              <a:off x="3087425" y="1319247"/>
              <a:ext cx="4361218" cy="2783316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ja-JP" sz="2400" dirty="0">
                <a:latin typeface="ＭＳ Ｐゴシック 本文"/>
              </a:endParaRPr>
            </a:p>
            <a:p>
              <a:endParaRPr lang="en-US" altLang="ja-JP" sz="2400" dirty="0">
                <a:latin typeface="ＭＳ Ｐゴシック 本文"/>
              </a:endParaRPr>
            </a:p>
            <a:p>
              <a:r>
                <a:rPr lang="en-US" altLang="ja-JP" sz="2400" dirty="0">
                  <a:latin typeface="ＭＳ Ｐゴシック 本文"/>
                </a:rPr>
                <a:t>Raspberry Pi 4B (RAM : 8GB)</a:t>
              </a:r>
            </a:p>
            <a:p>
              <a:r>
                <a:rPr lang="en-US" altLang="ja-JP" sz="2400" dirty="0" err="1">
                  <a:latin typeface="ＭＳ Ｐゴシック 本文"/>
                </a:rPr>
                <a:t>RasTech</a:t>
              </a:r>
              <a:r>
                <a:rPr lang="en-US" altLang="ja-JP" sz="2400" dirty="0">
                  <a:latin typeface="ＭＳ Ｐゴシック 本文"/>
                </a:rPr>
                <a:t> </a:t>
              </a:r>
              <a:r>
                <a:rPr lang="en-US" altLang="ja-JP" sz="2400" dirty="0" err="1">
                  <a:latin typeface="ＭＳ Ｐゴシック 本文"/>
                </a:rPr>
                <a:t>RasberryPiCamera</a:t>
              </a:r>
              <a:endParaRPr lang="en-US" altLang="ja-JP" sz="2400" dirty="0">
                <a:latin typeface="ＭＳ Ｐゴシック 本文"/>
              </a:endParaRPr>
            </a:p>
            <a:p>
              <a:r>
                <a:rPr lang="en-US" altLang="ja-JP" sz="2400" dirty="0">
                  <a:latin typeface="ＭＳ Ｐゴシック 本文"/>
                </a:rPr>
                <a:t>Bluetooth</a:t>
              </a:r>
              <a:r>
                <a:rPr lang="ja-JP" altLang="en-US" sz="2400" dirty="0">
                  <a:latin typeface="ＭＳ Ｐゴシック 本文"/>
                </a:rPr>
                <a:t>スピーカー</a:t>
              </a:r>
              <a:endParaRPr lang="en-US" altLang="ja-JP" sz="2400" dirty="0">
                <a:latin typeface="ＭＳ Ｐゴシック 本文"/>
              </a:endParaRPr>
            </a:p>
            <a:p>
              <a:r>
                <a:rPr lang="ja-JP" altLang="en-US" sz="2400" dirty="0">
                  <a:latin typeface="ＭＳ Ｐゴシック 本文"/>
                </a:rPr>
                <a:t>入力：顔・手のジェスチャー</a:t>
              </a:r>
            </a:p>
            <a:p>
              <a:r>
                <a:rPr lang="ja-JP" altLang="en-US" sz="2400" dirty="0">
                  <a:latin typeface="ＭＳ Ｐゴシック 本文"/>
                </a:rPr>
                <a:t>出力：音声案内・</a:t>
              </a:r>
              <a:r>
                <a:rPr lang="en-US" altLang="ja-JP" sz="2400" dirty="0">
                  <a:latin typeface="ＭＳ Ｐゴシック 本文"/>
                </a:rPr>
                <a:t>CSV</a:t>
              </a:r>
              <a:r>
                <a:rPr lang="ja-JP" altLang="en-US" sz="2400" dirty="0">
                  <a:latin typeface="ＭＳ Ｐゴシック 本文"/>
                </a:rPr>
                <a:t>ログ</a:t>
              </a: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A7A54112-D486-E647-14DF-FF55CB9F524B}"/>
                </a:ext>
              </a:extLst>
            </p:cNvPr>
            <p:cNvSpPr/>
            <p:nvPr/>
          </p:nvSpPr>
          <p:spPr>
            <a:xfrm>
              <a:off x="3087423" y="1319247"/>
              <a:ext cx="1619395" cy="663115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ysClr val="windowText" lastClr="000000"/>
                  </a:solidFill>
                </a:rPr>
                <a:t>構成図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588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8578A11-A5D0-8C09-A084-0FCCF265B4B6}"/>
              </a:ext>
            </a:extLst>
          </p:cNvPr>
          <p:cNvGrpSpPr/>
          <p:nvPr/>
        </p:nvGrpSpPr>
        <p:grpSpPr>
          <a:xfrm>
            <a:off x="324579" y="239653"/>
            <a:ext cx="4502197" cy="3941459"/>
            <a:chOff x="2309267" y="1008630"/>
            <a:chExt cx="4283733" cy="3941459"/>
          </a:xfrm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30C4542A-9501-F5E3-B963-001CAAC38452}"/>
                </a:ext>
              </a:extLst>
            </p:cNvPr>
            <p:cNvSpPr/>
            <p:nvPr/>
          </p:nvSpPr>
          <p:spPr>
            <a:xfrm>
              <a:off x="2309267" y="1008631"/>
              <a:ext cx="4283733" cy="3941458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ja-JP" sz="2400" b="1" dirty="0">
                <a:latin typeface="ＭＳ Ｐゴシック 本文"/>
              </a:endParaRPr>
            </a:p>
            <a:p>
              <a:r>
                <a:rPr lang="ja-JP" altLang="en-US" sz="2400" b="1" dirty="0">
                  <a:latin typeface="ＭＳ Ｐゴシック 本文"/>
                </a:rPr>
                <a:t>ソフトウェア</a:t>
              </a:r>
            </a:p>
            <a:p>
              <a:r>
                <a:rPr lang="en-US" altLang="ja-JP" sz="2400" dirty="0">
                  <a:latin typeface="ＭＳ Ｐゴシック 本文"/>
                </a:rPr>
                <a:t>	OS</a:t>
              </a:r>
              <a:r>
                <a:rPr lang="ja-JP" altLang="en-US" sz="2400" dirty="0">
                  <a:latin typeface="ＭＳ Ｐゴシック 本文"/>
                </a:rPr>
                <a:t>：</a:t>
              </a:r>
              <a:r>
                <a:rPr lang="en-US" altLang="ja-JP" sz="2400" dirty="0">
                  <a:latin typeface="ＭＳ Ｐゴシック 本文"/>
                </a:rPr>
                <a:t>Raspberry Pi OS (32bit)</a:t>
              </a:r>
            </a:p>
            <a:p>
              <a:r>
                <a:rPr lang="en-US" altLang="ja-JP" sz="2400" dirty="0">
                  <a:latin typeface="ＭＳ Ｐゴシック 本文"/>
                </a:rPr>
                <a:t>	</a:t>
              </a:r>
              <a:r>
                <a:rPr lang="ja-JP" altLang="en-US" sz="2400" dirty="0">
                  <a:latin typeface="ＭＳ Ｐゴシック 本文"/>
                </a:rPr>
                <a:t>言語：</a:t>
              </a:r>
              <a:r>
                <a:rPr lang="en-US" altLang="ja-JP" sz="2400" dirty="0">
                  <a:latin typeface="ＭＳ Ｐゴシック 本文"/>
                </a:rPr>
                <a:t>Python</a:t>
              </a:r>
            </a:p>
            <a:p>
              <a:r>
                <a:rPr lang="ja-JP" altLang="en-US" sz="2400" dirty="0">
                  <a:latin typeface="ＭＳ Ｐゴシック 本文"/>
                </a:rPr>
                <a:t>ライブラリ：</a:t>
              </a:r>
            </a:p>
            <a:p>
              <a:pPr lvl="1"/>
              <a:r>
                <a:rPr lang="en-US" altLang="ja-JP" sz="2400" dirty="0">
                  <a:latin typeface="ＭＳ Ｐゴシック 本文"/>
                </a:rPr>
                <a:t>OpenCV</a:t>
              </a:r>
              <a:r>
                <a:rPr lang="ja-JP" altLang="en-US" sz="2400" dirty="0">
                  <a:latin typeface="ＭＳ Ｐゴシック 本文"/>
                </a:rPr>
                <a:t>（映像取得・描画）</a:t>
              </a:r>
            </a:p>
            <a:p>
              <a:pPr lvl="1"/>
              <a:r>
                <a:rPr lang="en-US" altLang="ja-JP" sz="2400" dirty="0" err="1">
                  <a:latin typeface="ＭＳ Ｐゴシック 本文"/>
                </a:rPr>
                <a:t>MediaPipe</a:t>
              </a:r>
              <a:r>
                <a:rPr lang="ja-JP" altLang="en-US" sz="2400" dirty="0">
                  <a:latin typeface="ＭＳ Ｐゴシック 本文"/>
                </a:rPr>
                <a:t>（顔・手認識）</a:t>
              </a:r>
            </a:p>
            <a:p>
              <a:pPr lvl="1"/>
              <a:r>
                <a:rPr lang="en-US" altLang="ja-JP" sz="2400" dirty="0">
                  <a:latin typeface="ＭＳ Ｐゴシック 本文"/>
                </a:rPr>
                <a:t>pyttsx3</a:t>
              </a:r>
              <a:r>
                <a:rPr lang="ja-JP" altLang="en-US" sz="2400" dirty="0">
                  <a:latin typeface="ＭＳ Ｐゴシック 本文"/>
                </a:rPr>
                <a:t>（音声合成）</a:t>
              </a:r>
            </a:p>
            <a:p>
              <a:pPr lvl="1"/>
              <a:r>
                <a:rPr lang="en-US" altLang="ja-JP" sz="2400" dirty="0">
                  <a:latin typeface="ＭＳ Ｐゴシック 本文"/>
                </a:rPr>
                <a:t>threading / CSV</a:t>
              </a:r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E9C6E2DD-E49E-5AC7-E005-3BA9E8EBB77A}"/>
                </a:ext>
              </a:extLst>
            </p:cNvPr>
            <p:cNvSpPr/>
            <p:nvPr/>
          </p:nvSpPr>
          <p:spPr>
            <a:xfrm>
              <a:off x="2309267" y="1008630"/>
              <a:ext cx="3000830" cy="663115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b="1" dirty="0">
                  <a:solidFill>
                    <a:schemeClr val="bg1"/>
                  </a:solidFill>
                  <a:latin typeface="ＭＳ Ｐゴシック 本文"/>
                </a:rPr>
                <a:t>使用環境</a:t>
              </a:r>
              <a:endParaRPr lang="ja-JP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3EA544C-C5EE-F6DA-299E-B84E898ACC23}"/>
              </a:ext>
            </a:extLst>
          </p:cNvPr>
          <p:cNvGrpSpPr/>
          <p:nvPr/>
        </p:nvGrpSpPr>
        <p:grpSpPr>
          <a:xfrm>
            <a:off x="3393518" y="3466808"/>
            <a:ext cx="3719259" cy="3284162"/>
            <a:chOff x="2309267" y="1008630"/>
            <a:chExt cx="3538786" cy="3284162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04C2BAFB-BC69-5816-E633-6825CCAB00E6}"/>
                </a:ext>
              </a:extLst>
            </p:cNvPr>
            <p:cNvSpPr/>
            <p:nvPr/>
          </p:nvSpPr>
          <p:spPr>
            <a:xfrm>
              <a:off x="2309268" y="1008630"/>
              <a:ext cx="3538785" cy="3284162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ja-JP" sz="2400" dirty="0"/>
            </a:p>
            <a:p>
              <a:r>
                <a:rPr lang="ja-JP" altLang="en-US" sz="2400" dirty="0"/>
                <a:t>カメラ映像取得</a:t>
              </a:r>
            </a:p>
            <a:p>
              <a:r>
                <a:rPr lang="ja-JP" altLang="en-US" sz="2400" dirty="0"/>
                <a:t>顔検出による着席判定</a:t>
              </a:r>
            </a:p>
            <a:p>
              <a:r>
                <a:rPr lang="ja-JP" altLang="en-US" sz="2400" dirty="0"/>
                <a:t>手形状認識</a:t>
              </a:r>
            </a:p>
            <a:p>
              <a:r>
                <a:rPr lang="ja-JP" altLang="en-US" sz="2400" dirty="0"/>
                <a:t>状態遷移判定</a:t>
              </a:r>
            </a:p>
            <a:p>
              <a:r>
                <a:rPr lang="ja-JP" altLang="en-US" sz="2400" dirty="0"/>
                <a:t>音声案内</a:t>
              </a:r>
            </a:p>
            <a:p>
              <a:r>
                <a:rPr lang="ja-JP" altLang="en-US" sz="2400" dirty="0"/>
                <a:t>作業ログ保存</a:t>
              </a:r>
            </a:p>
          </p:txBody>
        </p:sp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C56B9AB-1991-58A1-B975-BAEC683F6D37}"/>
                </a:ext>
              </a:extLst>
            </p:cNvPr>
            <p:cNvSpPr/>
            <p:nvPr/>
          </p:nvSpPr>
          <p:spPr>
            <a:xfrm>
              <a:off x="2309267" y="1008630"/>
              <a:ext cx="3000830" cy="663115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b="1" dirty="0">
                  <a:solidFill>
                    <a:schemeClr val="bg1"/>
                  </a:solidFill>
                </a:rPr>
                <a:t>システムの全体フロー</a:t>
              </a:r>
            </a:p>
          </p:txBody>
        </p:sp>
      </p:grpSp>
      <p:pic>
        <p:nvPicPr>
          <p:cNvPr id="13" name="図 12" descr="机の上のパソコン機材&#10;&#10;AI 生成コンテンツは誤りを含む可能性があります。">
            <a:extLst>
              <a:ext uri="{FF2B5EF4-FFF2-40B4-BE49-F238E27FC236}">
                <a16:creationId xmlns:a16="http://schemas.microsoft.com/office/drawing/2014/main" id="{A0635EE4-E55D-EEC7-57D6-A0D479869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686" y="3038986"/>
            <a:ext cx="4813979" cy="3610484"/>
          </a:xfrm>
          <a:prstGeom prst="rect">
            <a:avLst/>
          </a:prstGeom>
        </p:spPr>
      </p:pic>
      <p:pic>
        <p:nvPicPr>
          <p:cNvPr id="11" name="図 10" descr="デスクの上のパソ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65130A8-3FE7-7F41-F508-FFA677C74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273" y="107030"/>
            <a:ext cx="4178785" cy="313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3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2D14B70-C4E9-DF98-70A9-B53BABF330A8}"/>
              </a:ext>
            </a:extLst>
          </p:cNvPr>
          <p:cNvSpPr/>
          <p:nvPr/>
        </p:nvSpPr>
        <p:spPr>
          <a:xfrm>
            <a:off x="7445211" y="455797"/>
            <a:ext cx="1935921" cy="1116680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WAIT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7198CF-CDE4-CF41-833A-3088783424FC}"/>
              </a:ext>
            </a:extLst>
          </p:cNvPr>
          <p:cNvSpPr/>
          <p:nvPr/>
        </p:nvSpPr>
        <p:spPr>
          <a:xfrm>
            <a:off x="7445211" y="2148361"/>
            <a:ext cx="1935921" cy="1116680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WORKING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A18ABF1-A0E7-2518-5D4F-36AD1D6C4C25}"/>
              </a:ext>
            </a:extLst>
          </p:cNvPr>
          <p:cNvSpPr/>
          <p:nvPr/>
        </p:nvSpPr>
        <p:spPr>
          <a:xfrm>
            <a:off x="7445211" y="3842637"/>
            <a:ext cx="1935921" cy="1116680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FINISHED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33E6B3F-C77B-13E4-2E4A-7C30B61909B2}"/>
              </a:ext>
            </a:extLst>
          </p:cNvPr>
          <p:cNvSpPr/>
          <p:nvPr/>
        </p:nvSpPr>
        <p:spPr>
          <a:xfrm>
            <a:off x="9936865" y="2148361"/>
            <a:ext cx="1935921" cy="1116680"/>
          </a:xfrm>
          <a:prstGeom prst="roundRect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BREAK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441C028-6DE2-9845-DEA7-F17BBC750C62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8413172" y="1572477"/>
            <a:ext cx="0" cy="5758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EBD4B24-CC52-839B-4130-51B45E2F60DB}"/>
              </a:ext>
            </a:extLst>
          </p:cNvPr>
          <p:cNvCxnSpPr/>
          <p:nvPr/>
        </p:nvCxnSpPr>
        <p:spPr>
          <a:xfrm>
            <a:off x="8413171" y="3266753"/>
            <a:ext cx="0" cy="5758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B24C04C-798E-8917-C3D4-60FC3ED593A8}"/>
              </a:ext>
            </a:extLst>
          </p:cNvPr>
          <p:cNvCxnSpPr>
            <a:cxnSpLocks/>
            <a:stCxn id="7" idx="2"/>
            <a:endCxn id="9" idx="2"/>
          </p:cNvCxnSpPr>
          <p:nvPr/>
        </p:nvCxnSpPr>
        <p:spPr>
          <a:xfrm rot="16200000" flipH="1">
            <a:off x="9658999" y="2019214"/>
            <a:ext cx="12700" cy="2491654"/>
          </a:xfrm>
          <a:prstGeom prst="bentConnector3">
            <a:avLst>
              <a:gd name="adj1" fmla="val 180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826FFAC5-12FE-93E7-95C5-7A529F357189}"/>
              </a:ext>
            </a:extLst>
          </p:cNvPr>
          <p:cNvCxnSpPr>
            <a:cxnSpLocks/>
            <a:stCxn id="9" idx="0"/>
            <a:endCxn id="7" idx="0"/>
          </p:cNvCxnSpPr>
          <p:nvPr/>
        </p:nvCxnSpPr>
        <p:spPr>
          <a:xfrm rot="16200000" flipV="1">
            <a:off x="9658999" y="902534"/>
            <a:ext cx="12700" cy="2491654"/>
          </a:xfrm>
          <a:prstGeom prst="bentConnector3">
            <a:avLst>
              <a:gd name="adj1" fmla="val 2818181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2A92747-CC08-A543-2BC9-EC12D32CC8B4}"/>
              </a:ext>
            </a:extLst>
          </p:cNvPr>
          <p:cNvSpPr txBox="1"/>
          <p:nvPr/>
        </p:nvSpPr>
        <p:spPr>
          <a:xfrm>
            <a:off x="7337156" y="1690453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顔認識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CAF3232-978B-ED46-5111-9064628CDB30}"/>
              </a:ext>
            </a:extLst>
          </p:cNvPr>
          <p:cNvSpPr txBox="1"/>
          <p:nvPr/>
        </p:nvSpPr>
        <p:spPr>
          <a:xfrm>
            <a:off x="6477250" y="3370029"/>
            <a:ext cx="193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顔認識 </a:t>
            </a:r>
            <a:r>
              <a:rPr kumimoji="1" lang="en-US" altLang="ja-JP" dirty="0"/>
              <a:t>or </a:t>
            </a:r>
            <a:r>
              <a:rPr kumimoji="1" lang="ja-JP" altLang="en-US" dirty="0"/>
              <a:t>チョキ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E8F08FB-9212-5967-ACAB-CCD4D2F83C27}"/>
              </a:ext>
            </a:extLst>
          </p:cNvPr>
          <p:cNvSpPr txBox="1"/>
          <p:nvPr/>
        </p:nvSpPr>
        <p:spPr>
          <a:xfrm>
            <a:off x="10011084" y="3597540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パー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28AAF04-7113-7D2B-9397-1AE50FBD2BAA}"/>
              </a:ext>
            </a:extLst>
          </p:cNvPr>
          <p:cNvSpPr txBox="1"/>
          <p:nvPr/>
        </p:nvSpPr>
        <p:spPr>
          <a:xfrm>
            <a:off x="10011084" y="1321121"/>
            <a:ext cx="96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グー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C20C2C32-3E10-E654-ED17-0255E06A2CA9}"/>
              </a:ext>
            </a:extLst>
          </p:cNvPr>
          <p:cNvGrpSpPr/>
          <p:nvPr/>
        </p:nvGrpSpPr>
        <p:grpSpPr>
          <a:xfrm>
            <a:off x="398488" y="477036"/>
            <a:ext cx="4760845" cy="2811518"/>
            <a:chOff x="2309267" y="1008630"/>
            <a:chExt cx="4529830" cy="2811518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49671D19-8424-BC8B-CAA1-F14154BC02AD}"/>
                </a:ext>
              </a:extLst>
            </p:cNvPr>
            <p:cNvSpPr/>
            <p:nvPr/>
          </p:nvSpPr>
          <p:spPr>
            <a:xfrm>
              <a:off x="2309267" y="1008630"/>
              <a:ext cx="4529830" cy="2811518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ja-JP" sz="2400" dirty="0"/>
            </a:p>
            <a:p>
              <a:r>
                <a:rPr lang="en-US" altLang="ja-JP" sz="2400" dirty="0"/>
                <a:t>	</a:t>
              </a:r>
              <a:r>
                <a:rPr lang="ja-JP" altLang="en-US" sz="2400" dirty="0"/>
                <a:t>・</a:t>
              </a:r>
              <a:r>
                <a:rPr lang="en-US" altLang="ja-JP" sz="2400" dirty="0"/>
                <a:t>WAIT</a:t>
              </a:r>
            </a:p>
            <a:p>
              <a:r>
                <a:rPr lang="en-US" altLang="ja-JP" sz="2400" dirty="0"/>
                <a:t>	</a:t>
              </a:r>
              <a:r>
                <a:rPr lang="ja-JP" altLang="en-US" sz="2400" dirty="0"/>
                <a:t>・</a:t>
              </a:r>
              <a:r>
                <a:rPr lang="en-US" altLang="ja-JP" sz="2400" dirty="0"/>
                <a:t>WORKING</a:t>
              </a:r>
            </a:p>
            <a:p>
              <a:r>
                <a:rPr lang="en-US" altLang="ja-JP" sz="2400" dirty="0"/>
                <a:t>	</a:t>
              </a:r>
              <a:r>
                <a:rPr lang="ja-JP" altLang="en-US" sz="2400" dirty="0"/>
                <a:t>・</a:t>
              </a:r>
              <a:r>
                <a:rPr lang="en-US" altLang="ja-JP" sz="2400" dirty="0"/>
                <a:t>BREAK</a:t>
              </a:r>
            </a:p>
            <a:p>
              <a:r>
                <a:rPr lang="en-US" altLang="ja-JP" sz="2400" dirty="0"/>
                <a:t>	</a:t>
              </a:r>
              <a:r>
                <a:rPr lang="ja-JP" altLang="en-US" sz="2400" dirty="0"/>
                <a:t>・</a:t>
              </a:r>
              <a:r>
                <a:rPr lang="en-US" altLang="ja-JP" sz="2400" dirty="0"/>
                <a:t>FINISHED</a:t>
              </a:r>
            </a:p>
            <a:p>
              <a:r>
                <a:rPr lang="ja-JP" altLang="en-US" sz="2400" dirty="0"/>
                <a:t>（顔検出 </a:t>
              </a:r>
              <a:r>
                <a:rPr lang="en-US" altLang="ja-JP" sz="2400" dirty="0"/>
                <a:t>/ </a:t>
              </a:r>
              <a:r>
                <a:rPr lang="ja-JP" altLang="en-US" sz="2400" dirty="0"/>
                <a:t>パー </a:t>
              </a:r>
              <a:r>
                <a:rPr lang="en-US" altLang="ja-JP" sz="2400" dirty="0"/>
                <a:t>/ </a:t>
              </a:r>
              <a:r>
                <a:rPr lang="ja-JP" altLang="en-US" sz="2400" dirty="0"/>
                <a:t>グー </a:t>
              </a:r>
              <a:r>
                <a:rPr lang="en-US" altLang="ja-JP" sz="2400" dirty="0"/>
                <a:t>/ </a:t>
              </a:r>
              <a:r>
                <a:rPr lang="ja-JP" altLang="en-US" sz="2400" dirty="0"/>
                <a:t>ピース）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1B22A8A3-486E-9D71-D1DB-7E6D8842997B}"/>
                </a:ext>
              </a:extLst>
            </p:cNvPr>
            <p:cNvSpPr/>
            <p:nvPr/>
          </p:nvSpPr>
          <p:spPr>
            <a:xfrm>
              <a:off x="2309267" y="1008630"/>
              <a:ext cx="1987416" cy="663115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b="1" dirty="0">
                  <a:solidFill>
                    <a:schemeClr val="bg1"/>
                  </a:solidFill>
                </a:rPr>
                <a:t>状態遷移図</a:t>
              </a: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C971B34-8386-CC8E-3DE3-45F04D60B13E}"/>
              </a:ext>
            </a:extLst>
          </p:cNvPr>
          <p:cNvGrpSpPr/>
          <p:nvPr/>
        </p:nvGrpSpPr>
        <p:grpSpPr>
          <a:xfrm>
            <a:off x="398488" y="4046550"/>
            <a:ext cx="6665426" cy="2401949"/>
            <a:chOff x="2309267" y="1008630"/>
            <a:chExt cx="6341994" cy="2401949"/>
          </a:xfrm>
        </p:grpSpPr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5B3E711F-511F-EFF5-62B5-9DAC442A5B10}"/>
                </a:ext>
              </a:extLst>
            </p:cNvPr>
            <p:cNvSpPr/>
            <p:nvPr/>
          </p:nvSpPr>
          <p:spPr>
            <a:xfrm>
              <a:off x="2309267" y="1008631"/>
              <a:ext cx="6341994" cy="2401948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ja-JP" sz="2400" dirty="0"/>
            </a:p>
            <a:p>
              <a:r>
                <a:rPr lang="ja-JP" altLang="en-US" sz="2400" dirty="0"/>
                <a:t>音声出力と認識処理を分離</a:t>
              </a:r>
              <a:endParaRPr lang="en-US" altLang="ja-JP" sz="2400" dirty="0"/>
            </a:p>
            <a:p>
              <a:r>
                <a:rPr lang="en-US" altLang="ja-JP" sz="2400" dirty="0" err="1"/>
                <a:t>mediapipe</a:t>
              </a:r>
              <a:r>
                <a:rPr lang="ja-JP" altLang="en-US" sz="2400" dirty="0"/>
                <a:t>による手の形の認識で軽量化</a:t>
              </a:r>
              <a:endParaRPr lang="en-US" altLang="ja-JP" sz="2400" dirty="0"/>
            </a:p>
            <a:p>
              <a:r>
                <a:rPr lang="ja-JP" altLang="en-US" sz="2400" dirty="0"/>
                <a:t>同一ジェスチャーが</a:t>
              </a:r>
              <a:r>
                <a:rPr lang="en-US" altLang="ja-JP" sz="2400" dirty="0"/>
                <a:t>1</a:t>
              </a:r>
              <a:r>
                <a:rPr lang="ja-JP" altLang="en-US" sz="2400" dirty="0"/>
                <a:t>秒間連続した場合のみ遷移</a:t>
              </a:r>
            </a:p>
            <a:p>
              <a:r>
                <a:rPr lang="ja-JP" altLang="en-US" sz="2400" dirty="0"/>
                <a:t>音声再生中はジェスチャー入力を無効化</a:t>
              </a: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845F4DE1-26CE-0CF0-FF9A-3794AF665C24}"/>
                </a:ext>
              </a:extLst>
            </p:cNvPr>
            <p:cNvSpPr/>
            <p:nvPr/>
          </p:nvSpPr>
          <p:spPr>
            <a:xfrm>
              <a:off x="2309267" y="1008630"/>
              <a:ext cx="1987416" cy="570627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 b="1" dirty="0">
                  <a:solidFill>
                    <a:schemeClr val="bg1"/>
                  </a:solidFill>
                </a:rPr>
                <a:t>工夫点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69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EB0D3D-2CBC-B6EF-EE48-9F3F78337EDF}"/>
              </a:ext>
            </a:extLst>
          </p:cNvPr>
          <p:cNvSpPr txBox="1"/>
          <p:nvPr/>
        </p:nvSpPr>
        <p:spPr>
          <a:xfrm>
            <a:off x="4574327" y="3105834"/>
            <a:ext cx="3043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実験映像①</a:t>
            </a:r>
            <a:endParaRPr kumimoji="1" lang="en-US" altLang="ja-JP" dirty="0"/>
          </a:p>
          <a:p>
            <a:r>
              <a:rPr kumimoji="1" lang="ja-JP" altLang="en-US" dirty="0"/>
              <a:t>一般公開用に，ここは非公開</a:t>
            </a:r>
          </a:p>
        </p:txBody>
      </p:sp>
    </p:spTree>
    <p:extLst>
      <p:ext uri="{BB962C8B-B14F-4D97-AF65-F5344CB8AC3E}">
        <p14:creationId xmlns:p14="http://schemas.microsoft.com/office/powerpoint/2010/main" val="318378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2D34-8FAF-D555-9E44-7EAFACDD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2CAFE8-A60A-A40B-4FB3-728CA5AF8F53}"/>
              </a:ext>
            </a:extLst>
          </p:cNvPr>
          <p:cNvSpPr txBox="1"/>
          <p:nvPr/>
        </p:nvSpPr>
        <p:spPr>
          <a:xfrm>
            <a:off x="4574327" y="3105834"/>
            <a:ext cx="3043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実験映像②</a:t>
            </a:r>
            <a:endParaRPr kumimoji="1" lang="en-US" altLang="ja-JP" dirty="0"/>
          </a:p>
          <a:p>
            <a:r>
              <a:rPr kumimoji="1" lang="ja-JP" altLang="en-US" dirty="0"/>
              <a:t>一般公開用に，ここは非公開</a:t>
            </a:r>
          </a:p>
        </p:txBody>
      </p:sp>
    </p:spTree>
    <p:extLst>
      <p:ext uri="{BB962C8B-B14F-4D97-AF65-F5344CB8AC3E}">
        <p14:creationId xmlns:p14="http://schemas.microsoft.com/office/powerpoint/2010/main" val="295465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4DB4-9F5C-D975-44B3-C69FF465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BF88807B-39FB-D3AC-8BFD-AD3DD7514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0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78A0-791C-80DC-9E57-AD39A29E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727F994-2F16-B016-1990-3084893C957F}"/>
              </a:ext>
            </a:extLst>
          </p:cNvPr>
          <p:cNvGrpSpPr/>
          <p:nvPr/>
        </p:nvGrpSpPr>
        <p:grpSpPr>
          <a:xfrm>
            <a:off x="2116149" y="522348"/>
            <a:ext cx="7959701" cy="1871844"/>
            <a:chOff x="2309267" y="1008631"/>
            <a:chExt cx="7573465" cy="1871844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88ED40D4-547E-1820-8ACF-617D03F08F9E}"/>
                </a:ext>
              </a:extLst>
            </p:cNvPr>
            <p:cNvSpPr/>
            <p:nvPr/>
          </p:nvSpPr>
          <p:spPr>
            <a:xfrm>
              <a:off x="2309267" y="1008631"/>
              <a:ext cx="7573465" cy="1871844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2400" dirty="0"/>
                <a:t>顔や手の形を認識</a:t>
              </a:r>
            </a:p>
            <a:p>
              <a:r>
                <a:rPr lang="ja-JP" altLang="en-US" sz="2400" dirty="0"/>
                <a:t>音声案内・状態遷移が直感的</a:t>
              </a:r>
              <a:endParaRPr lang="en-US" altLang="ja-JP" sz="2400" dirty="0"/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C57DA00A-73B9-D6A5-6763-BA767C5EC52A}"/>
                </a:ext>
              </a:extLst>
            </p:cNvPr>
            <p:cNvSpPr/>
            <p:nvPr/>
          </p:nvSpPr>
          <p:spPr>
            <a:xfrm>
              <a:off x="2309267" y="1008631"/>
              <a:ext cx="1533069" cy="545616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ysClr val="windowText" lastClr="000000"/>
                  </a:solidFill>
                </a:rPr>
                <a:t>実験結果</a:t>
              </a: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64A733C-9093-C79E-38C0-901F63A1127F}"/>
              </a:ext>
            </a:extLst>
          </p:cNvPr>
          <p:cNvGrpSpPr/>
          <p:nvPr/>
        </p:nvGrpSpPr>
        <p:grpSpPr>
          <a:xfrm>
            <a:off x="2116149" y="2493078"/>
            <a:ext cx="7959701" cy="1871844"/>
            <a:chOff x="2309267" y="1008631"/>
            <a:chExt cx="7573465" cy="1871844"/>
          </a:xfrm>
        </p:grpSpPr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80CA1519-0ED2-E0DC-BCF2-1B0F2FB4B72E}"/>
                </a:ext>
              </a:extLst>
            </p:cNvPr>
            <p:cNvSpPr/>
            <p:nvPr/>
          </p:nvSpPr>
          <p:spPr>
            <a:xfrm>
              <a:off x="2309267" y="1008631"/>
              <a:ext cx="7573465" cy="1871844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2400" dirty="0"/>
                <a:t>操作不要で作業管理が可能</a:t>
              </a:r>
            </a:p>
            <a:p>
              <a:r>
                <a:rPr lang="ja-JP" altLang="en-US" sz="2400" dirty="0"/>
                <a:t>軽量でオフライン動作</a:t>
              </a:r>
              <a:endParaRPr lang="en-US" altLang="ja-JP" sz="2400" dirty="0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D33485C4-CF23-AB33-4289-758EBCC2EFBC}"/>
                </a:ext>
              </a:extLst>
            </p:cNvPr>
            <p:cNvSpPr/>
            <p:nvPr/>
          </p:nvSpPr>
          <p:spPr>
            <a:xfrm>
              <a:off x="2309267" y="1008631"/>
              <a:ext cx="1533069" cy="545616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ysClr val="windowText" lastClr="000000"/>
                  </a:solidFill>
                </a:rPr>
                <a:t>評価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144BD6A2-B16A-B661-CE2B-F10AF8BD01A0}"/>
              </a:ext>
            </a:extLst>
          </p:cNvPr>
          <p:cNvGrpSpPr/>
          <p:nvPr/>
        </p:nvGrpSpPr>
        <p:grpSpPr>
          <a:xfrm>
            <a:off x="2116148" y="4463808"/>
            <a:ext cx="7959701" cy="1871844"/>
            <a:chOff x="2309267" y="1008631"/>
            <a:chExt cx="7573465" cy="1871844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3ECA3B39-033E-545F-8894-B8ADCD2BF3CC}"/>
                </a:ext>
              </a:extLst>
            </p:cNvPr>
            <p:cNvSpPr/>
            <p:nvPr/>
          </p:nvSpPr>
          <p:spPr>
            <a:xfrm>
              <a:off x="2309267" y="1008631"/>
              <a:ext cx="7573465" cy="1871844"/>
            </a:xfrm>
            <a:prstGeom prst="roundRect">
              <a:avLst/>
            </a:prstGeom>
            <a:solidFill>
              <a:schemeClr val="bg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2400" dirty="0"/>
                <a:t>映像認識と音声を組み合わせた作業支援システムを実現</a:t>
              </a:r>
              <a:endParaRPr lang="en-US" altLang="ja-JP" sz="2400"/>
            </a:p>
            <a:p>
              <a:r>
                <a:rPr lang="ja-JP" altLang="en-US" sz="2400"/>
                <a:t>今後</a:t>
              </a:r>
              <a:r>
                <a:rPr lang="ja-JP" altLang="en-US" sz="2400" dirty="0"/>
                <a:t>は姿勢推定や集中度評価への拡張が可能</a:t>
              </a:r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5CB2C9C7-C6E3-A01A-F53E-E9E491EB28BC}"/>
                </a:ext>
              </a:extLst>
            </p:cNvPr>
            <p:cNvSpPr/>
            <p:nvPr/>
          </p:nvSpPr>
          <p:spPr>
            <a:xfrm>
              <a:off x="2309267" y="1008631"/>
              <a:ext cx="1533069" cy="545616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ysClr val="windowText" lastClr="000000"/>
                  </a:solidFill>
                </a:rPr>
                <a:t>まとめ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426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B12425-29FE-3E9B-CC6A-A29964E4BD53}"/>
              </a:ext>
            </a:extLst>
          </p:cNvPr>
          <p:cNvSpPr txBox="1"/>
          <p:nvPr/>
        </p:nvSpPr>
        <p:spPr>
          <a:xfrm>
            <a:off x="3362425" y="3075057"/>
            <a:ext cx="5467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Thank you for listening</a:t>
            </a:r>
            <a:endParaRPr kumimoji="1"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44824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版">
  <a:themeElements>
    <a:clrScheme name="石版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版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版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Metadata/LabelInfo.xml><?xml version="1.0" encoding="utf-8"?>
<clbl:labelList xmlns:clbl="http://schemas.microsoft.com/office/2020/mipLabelMetadata">
  <clbl:label id="{bfc5048d-9704-40ed-8a4c-a35ccf36a936}" enabled="0" method="" siteId="{bfc5048d-9704-40ed-8a4c-a35ccf36a93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TM04033929[[fn=石版]]</Template>
  <TotalTime>98</TotalTime>
  <Words>317</Words>
  <Application>Microsoft Office PowerPoint</Application>
  <PresentationFormat>ワイド画面</PresentationFormat>
  <Paragraphs>71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ＭＳ Ｐゴシック 見出し</vt:lpstr>
      <vt:lpstr>ＭＳ Ｐゴシック 本文</vt:lpstr>
      <vt:lpstr>Calisto MT</vt:lpstr>
      <vt:lpstr>Wingdings 2</vt:lpstr>
      <vt:lpstr>石版</vt:lpstr>
      <vt:lpstr>Raspberry Pi 4B による映像認識による 音声アシスト作業管理システム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一輝 池延</dc:creator>
  <cp:lastModifiedBy>池延　一輝</cp:lastModifiedBy>
  <cp:revision>1</cp:revision>
  <dcterms:created xsi:type="dcterms:W3CDTF">2026-01-15T02:20:23Z</dcterms:created>
  <dcterms:modified xsi:type="dcterms:W3CDTF">2026-05-16T07:06:50Z</dcterms:modified>
</cp:coreProperties>
</file>